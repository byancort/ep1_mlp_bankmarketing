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italic ns1:id="rIdFont19"/>
      <ns0:bold ns1:id="rIdFont20"/>
      <ns0:regular ns1:id="rIdFont21"/>
    </ns0:embeddedFont>
    <ns0:embeddedFont>
      <ns0:font typeface="Space Grotesk"/>
      <ns0:bold ns1:id="rIdFont22"/>
    </ns0:embeddedFont>
    <ns0:embeddedFont>
      <ns0:font typeface="JetBrains Mono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2802e6b1-dd75-42b9-a3b8-5a832e29f56a.fntdata" /><ns0:Relationship Id="rIdFont20" Type="http://schemas.openxmlformats.org/officeDocument/2006/relationships/font" Target="fonts/52b64540-a271-44fd-b0ec-9f2ac4a89760.fntdata" /><ns0:Relationship Id="rIdFont21" Type="http://schemas.openxmlformats.org/officeDocument/2006/relationships/font" Target="fonts/70ad5317-4777-41de-81a1-c1860d866bd5.fntdata" /><ns0:Relationship Id="rIdFont22" Type="http://schemas.openxmlformats.org/officeDocument/2006/relationships/font" Target="fonts/cfc566c7-0de7-4e84-b303-eafdf525fc9d.fntdata" /><ns0:Relationship Id="rIdFont23" Type="http://schemas.openxmlformats.org/officeDocument/2006/relationships/font" Target="fonts/94d669e2-6453-414c-877d-81f592244d8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65277"/>
            <a:ext cx="857250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65277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911697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DLY0100 – DEEP LEARNING · EVALUACIÓN PARCIAL N°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5934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Red Neuronal Multicapa (MLP) para Clasificación Binaria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27077"/>
            <a:ext cx="723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Predicción de la contratación de depósitos a plazo sobre el dataset </a:t>
            </a:r>
            <a:r>
              <a:rPr b="0" sz="1500" i="1" u="none">
                <a:solidFill>
                  <a:srgbClr val="94A3B8"/>
                </a:solidFill>
                <a:latin typeface="Inter"/>
              </a:rPr>
              <a:t>Bank Marketing</a:t>
            </a:r>
            <a:r>
              <a:rPr b="0" sz="1500" i="0" u="none">
                <a:solidFill>
                  <a:srgbClr val="94A3B8"/>
                </a:solidFill>
                <a:latin typeface="Inter"/>
              </a:rPr>
              <a:t> usando PyTorch.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603402"/>
            <a:ext cx="1657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Dataset</a:t>
            </a:r>
            <a:r>
              <a:rPr b="1" sz="975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Bank Marketing (UCI)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500" y="4603402"/>
            <a:ext cx="1752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Framework</a:t>
            </a:r>
            <a:r>
              <a:rPr b="1" sz="975" i="0" u="none">
                <a:solidFill>
                  <a:srgbClr val="64748B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8BDF8"/>
                </a:solidFill>
                <a:latin typeface="Inter"/>
              </a:rPr>
              <a:t>PyTorch + Scikit-Learn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8650" y="4603402"/>
            <a:ext cx="11715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Registros</a:t>
            </a:r>
            <a:r>
              <a:rPr b="1" sz="975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45.211 clientes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9235"/>
            <a:ext cx="4849117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78460"/>
            <a:ext cx="4849117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3517" y="2864048"/>
            <a:ext cx="2814191" cy="1819275"/>
          </a:xfrm>
          <a:prstGeom prst="roundRect">
            <a:avLst>
              <a:gd name="adj" fmla="val 628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8208" y="2864048"/>
            <a:ext cx="2814191" cy="1819275"/>
          </a:xfrm>
          <a:prstGeom prst="roundRect">
            <a:avLst>
              <a:gd name="adj" fmla="val 628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130873"/>
            <a:ext cx="1524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01. CONTEXTO &amp;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Desequilibrio Severo en la Variable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2697360"/>
            <a:ext cx="5370834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Objetivo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73585"/>
            <a:ext cx="446811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Predecir si un cliente suscribirá un depósito a plazo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y = "yes"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) tras ser contactado vía telemarketing.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116585"/>
            <a:ext cx="5218434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Atributos de 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392810"/>
            <a:ext cx="44681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16 variables en total: 7 numéricas (edad, saldo, duración) y 9 categóricas (trabajo, estado civil, educación).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1775" y="3216473"/>
            <a:ext cx="3017676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16A34A"/>
                </a:solidFill>
                <a:latin typeface="Inter"/>
              </a:rPr>
              <a:t>88.3%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1775" y="3902273"/>
            <a:ext cx="301767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5803D"/>
                </a:solidFill>
                <a:latin typeface="Inter"/>
              </a:rPr>
              <a:t>Sin Depósito (y = "no")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1775" y="4168973"/>
            <a:ext cx="301767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66534"/>
                </a:solidFill>
                <a:latin typeface="Inter"/>
              </a:rPr>
              <a:t>39.922 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6466" y="3216473"/>
            <a:ext cx="3017676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DC2626"/>
                </a:solidFill>
                <a:latin typeface="Inter"/>
              </a:rPr>
              <a:t>11.7%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6466" y="3902273"/>
            <a:ext cx="301767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B91C1C"/>
                </a:solidFill>
                <a:latin typeface="Inter"/>
              </a:rPr>
              <a:t>Con Depósito (y = "yes")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6466" y="4168973"/>
            <a:ext cx="301767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91B1B"/>
                </a:solidFill>
                <a:latin typeface="Inter"/>
              </a:rPr>
              <a:t>5.289 clientes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548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548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9785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87898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187898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02198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02. INGENIERÍA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Preprocesamiento Justificado mediante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475" y="3173610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StandardScaler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49835"/>
            <a:ext cx="312420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Estandarización Z-score en variables numéricas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age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balance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duration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) para evitar sesgos por gradientes dominantes.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225" y="3173610"/>
            <a:ext cx="35194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OneHotEncoder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449835"/>
            <a:ext cx="312420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Codificación binaria para categóricas con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handle_unknown='ignore'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 Evita supuestos de orden arbitrario entre categorías.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2025" y="3287910"/>
            <a:ext cx="35194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Reproducibilidad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564135"/>
            <a:ext cx="312420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División estratificada (Train/Test) y semilla fija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SEED=42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) en PyTorch, NumPy y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9023"/>
            <a:ext cx="3419177" cy="1749474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57377" y="2911673"/>
            <a:ext cx="3677394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63371" y="2911673"/>
            <a:ext cx="3419177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638972"/>
            <a:ext cx="3419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899023"/>
            <a:ext cx="3419177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899023"/>
            <a:ext cx="9525" cy="17494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19252" y="2899023"/>
            <a:ext cx="9525" cy="17494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7377" y="4626173"/>
            <a:ext cx="3677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7377" y="2911673"/>
            <a:ext cx="3677394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7377" y="2911673"/>
            <a:ext cx="9525" cy="1724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5246" y="2911673"/>
            <a:ext cx="9525" cy="1724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3371" y="4626173"/>
            <a:ext cx="3419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3371" y="2911673"/>
            <a:ext cx="3419177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63371" y="2911673"/>
            <a:ext cx="9525" cy="1724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3023" y="2911673"/>
            <a:ext cx="9525" cy="1724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527673"/>
            <a:ext cx="2942927" cy="44454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502" y="3540323"/>
            <a:ext cx="3201144" cy="4191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496" y="3540323"/>
            <a:ext cx="2942927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670548"/>
            <a:ext cx="933450" cy="187374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802" y="3662957"/>
            <a:ext cx="2972544" cy="18216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796" y="3683198"/>
            <a:ext cx="1680864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03. FUNDAMENTOS TEÓRICOS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Componentes del Modelo Programados desde Cero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165723"/>
            <a:ext cx="386259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Activación Sigmoide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086522"/>
            <a:ext cx="303817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Mapea la salida lineal a probabilidades continuas en el intervalo (0, 1).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502" y="3178373"/>
            <a:ext cx="420150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Binary Cross-Entropy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502" y="4073723"/>
            <a:ext cx="329639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Penaliza logarítmicamente los errores en clasificaciones con alta confianza.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1496" y="3178373"/>
            <a:ext cx="37905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Función ReLU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1496" y="4073723"/>
            <a:ext cx="303817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Aporta no linealidad eficiente eliminando el desvanecimiento de gradiente.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13371"/>
            <a:ext cx="5334000" cy="3120628"/>
          </a:xfrm>
          <a:prstGeom prst="roundRect">
            <a:avLst>
              <a:gd name="adj" fmla="val 3662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064073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559373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054673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04. ARQUITECTURA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Diseño Modular de la Red Neuronal 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441971"/>
            <a:ext cx="4972050" cy="2663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2E8F0"/>
                </a:solidFill>
                <a:latin typeface="Inter"/>
              </a:rPr>
              <a:t>class MLPBank(nn.Module): def __init__(self, input_dim, hidden_units, p_drop): super().__init__() self.net = nn.Sequential( nn.Linear(input_dim, hidden_units[0]), nn.BatchNorm1d(hidden_units[0]), nn.ReLU(), nn.Dropout(p_drop), nn.Linear(hidden_units[0], hidden_units[1]), nn.ReLU(), nn.Linear(hidden_units[1], 1) ) def forward(self, x): return self.net(x)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451496"/>
            <a:ext cx="6072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// Definición de la Red en PyTorch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70571"/>
            <a:ext cx="4953000" cy="2425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class MLPBank(nn.Module): def __init__(self, input_dim, hidden_units, p_drop): super().__init__() self.net = nn.Sequential( nn.Linear(input_dim, hidden_units[0]), nn.BatchNorm1d(hidden_units[0]), nn.ReLU(), nn.Dropout(p_drop), nn.Linear(hidden_units[0], hidden_units[1]), nn.ReLU(), nn.Linear(hidden_units[1], 1) ) def forward(self, x): return self.net(x)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025973"/>
            <a:ext cx="5162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Capa de Entrada:</a:t>
            </a:r>
            <a:r>
              <a:rPr b="1" sz="1200" i="0" u="none">
                <a:solidFill>
                  <a:srgbClr val="0284C7"/>
                </a:solidFill>
                <a:latin typeface="Inter"/>
              </a:rPr>
              <a:t> Dimensión adaptada al One-Hot Encoding de variables categóricas + numéricas.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521273"/>
            <a:ext cx="5162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Capas Ocultas:</a:t>
            </a:r>
            <a:r>
              <a:rPr b="1" sz="1200" i="0" u="none">
                <a:solidFill>
                  <a:srgbClr val="0284C7"/>
                </a:solidFill>
                <a:latin typeface="Inter"/>
              </a:rPr>
              <a:t> Bloques secuenciales con Batch Normalization, activación ReLU y Dropout para regularizar.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016573"/>
            <a:ext cx="51625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Salida Logit:</a:t>
            </a:r>
            <a:r>
              <a:rPr b="1" sz="1200" i="0" u="none">
                <a:solidFill>
                  <a:srgbClr val="0284C7"/>
                </a:solidFill>
                <a:latin typeface="Inter"/>
              </a:rPr>
              <a:t> Retorna valores continuos sin sigmoide explícita para compatibilidad con </a:t>
            </a:r>
            <a:r>
              <a:rPr b="1" sz="1200" i="0" u="none">
                <a:solidFill>
                  <a:srgbClr val="0284C7"/>
                </a:solidFill>
                <a:latin typeface="Inter"/>
              </a:rPr>
              <a:t>BCEWithLogitsLoss</a:t>
            </a:r>
            <a:r>
              <a:rPr b="1" sz="1200" i="0" u="none">
                <a:solidFill>
                  <a:srgbClr val="0284C7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071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548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3071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05. EXPERIMENTOS CONTROLADOS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Ajuste de Épocas, Tasa de Aprendizaje y Batch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06883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EXPERIMENTO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6886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Space Grotesk"/>
              </a:rPr>
              <a:t>Número de Épocas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64135"/>
            <a:ext cx="312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20 vs 50 vs 100 épocas. 50 épocas alcanza convergencia sin presentar sobreajuste prematuro en la pérdida de validación.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17361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EXPERIMENTO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37363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Space Grotesk"/>
              </a:rPr>
              <a:t>Learning Rate (lr)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668910"/>
            <a:ext cx="31242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Evaluación de 0.1, 0.001 y 0.0001. Un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lr = 0.001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con optimizador Adam ofrece la convergencia más estable.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068835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EXPERIMENTO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26886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Space Grotesk"/>
              </a:rPr>
              <a:t>Tamaño de Lote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564135"/>
            <a:ext cx="312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Batch size 64 ofrece el mejor compromiso entre velocidad computacional y suavidad en la estimación del gradiente.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64285"/>
            <a:ext cx="10972800" cy="657225"/>
          </a:xfrm>
          <a:prstGeom prst="roundRect">
            <a:avLst>
              <a:gd name="adj" fmla="val 1739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706885"/>
            <a:ext cx="154483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54435" y="2706885"/>
            <a:ext cx="390897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3406" y="2706885"/>
            <a:ext cx="365700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20411" y="2706885"/>
            <a:ext cx="186198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321248"/>
            <a:ext cx="1544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54435" y="3321248"/>
            <a:ext cx="39089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63406" y="3321248"/>
            <a:ext cx="36570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20411" y="3321248"/>
            <a:ext cx="18619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921323"/>
            <a:ext cx="1544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4435" y="3921323"/>
            <a:ext cx="39089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3406" y="3921323"/>
            <a:ext cx="36570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20411" y="3921323"/>
            <a:ext cx="18619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521398"/>
            <a:ext cx="15448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54435" y="4521398"/>
            <a:ext cx="39089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63406" y="4521398"/>
            <a:ext cx="36570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20411" y="4521398"/>
            <a:ext cx="18619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2811" y="2916435"/>
            <a:ext cx="135255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2811" y="3516510"/>
            <a:ext cx="93345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2811" y="4116585"/>
            <a:ext cx="80962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2125860"/>
          <a:ext cx="10972797" cy="24098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44835"/>
                <a:gridCol w="3908970"/>
                <a:gridCol w="3657004"/>
                <a:gridCol w="1861988"/>
              </a:tblGrid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Activación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Ventajas Técnicas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Inconvenientes Observados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F1-Score / Rendimiento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ReLU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Cálculo ultra-rápido, evita desvanecimiento de gradiente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Riesgo de neuronas muertas si z &lt;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LeakyReLU / GELU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Permite flujo de gradiente en valores negativos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Mayor costo computacional relativo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245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Sigmoide / Tanh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Respuestas acotadas y suaves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Saturación severa de gradientes en capas profundas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06. ANÁLISIS COMPARATIVO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Impacto de las Funciones de Activación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5002410"/>
            <a:ext cx="11344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Inter"/>
              </a:rPr>
              <a:t>Conclusión:</a:t>
            </a:r>
            <a:r>
              <a:rPr b="0" sz="1125" i="0" u="none">
                <a:solidFill>
                  <a:srgbClr val="0369A1"/>
                </a:solidFill>
                <a:latin typeface="Inter"/>
              </a:rPr>
              <a:t> ReLU se consolida como la mejor función de activación para las capas ocultas del modelo MLP en este problema de clasificación bancaria.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8061" y="2954535"/>
            <a:ext cx="125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Excelente (Optimo)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8061" y="3554610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Competitivo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8061" y="4154685"/>
            <a:ext cx="714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Inter"/>
              </a:rPr>
              <a:t>Deficiente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0248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0248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9785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92660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192660"/>
            <a:ext cx="1905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02198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07. REGULARIZACIÓN &amp; OPTIMIZACIÓN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Técnicas de Control de Sobreajuste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178373"/>
            <a:ext cx="35194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Dropout (p = 0.2 - 0.3)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54598"/>
            <a:ext cx="312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Desactivación aleatoria de neuronas durante el entrenamiento, obligando a la red a aprender representaciones redundantes y robustas.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7275" y="3178373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Batch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454598"/>
            <a:ext cx="312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Estabiliza la distribución de las activaciones intermedias, acelerando la convergencia y actuando como regularizador liviano.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2975" y="3287910"/>
            <a:ext cx="35385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Optimizador Adam + 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564135"/>
            <a:ext cx="312420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Supera a SGD estándar mediante momentos adaptativos y penalización de pesos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weight_decay=1e-4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5985"/>
            <a:ext cx="5334000" cy="838200"/>
          </a:xfrm>
          <a:prstGeom prst="roundRect">
            <a:avLst>
              <a:gd name="adj" fmla="val 13636"/>
            </a:avLst>
          </a:prstGeom>
          <a:solidFill>
            <a:srgbClr val="FFFBBF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16585"/>
            <a:ext cx="5334000" cy="838200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3106935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08. OPTIMIZACIÓN DE DECISIONES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Ajuste del Umbral de Clasificación (Threshold)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92585"/>
            <a:ext cx="5429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Debido al desbalance del 11.7%, el umbral estándar de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0.50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produce un Recall deficiente sobre los clientes probables.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64110"/>
            <a:ext cx="4953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54D0E"/>
                </a:solidFill>
                <a:latin typeface="Inter"/>
              </a:rPr>
              <a:t>Umbral Estándar (0.50):</a:t>
            </a:r>
            <a:r>
              <a:rPr b="0" sz="1125" i="0" u="none">
                <a:solidFill>
                  <a:srgbClr val="854D0E"/>
                </a:solidFill>
                <a:latin typeface="Inter"/>
              </a:rPr>
              <a:t> Prioriza precisión global pero ignora la clase minoritaria interesada.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354710"/>
            <a:ext cx="4953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Inter"/>
              </a:rPr>
              <a:t>Umbral Óptimo (~0.30 - 0.35):</a:t>
            </a:r>
            <a:r>
              <a:rPr b="0" sz="1125" i="0" u="none">
                <a:solidFill>
                  <a:srgbClr val="166534"/>
                </a:solidFill>
                <a:latin typeface="Inter"/>
              </a:rPr>
              <a:t> Maximiza la métrica F1-Score y equilibra Precision vs Recall.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306" y="3345060"/>
            <a:ext cx="6072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MÉTRICA OBJETIVO DE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306" y="3506985"/>
            <a:ext cx="60721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Inter"/>
              </a:rPr>
              <a:t>F1-Score Maximizado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306" y="4040385"/>
            <a:ext cx="6072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284C7"/>
                </a:solidFill>
                <a:latin typeface="Inter"/>
              </a:rPr>
              <a:t>Mayor captura de clientes potenciales con esfuerzo controlado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3548"/>
            <a:ext cx="64008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2940248"/>
            <a:ext cx="4267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25960"/>
            <a:ext cx="1905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11823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07123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09. EVALUACIÓN ROBUSTA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Validación Cruzada Estratificada (Stratified K-Fold)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2911673"/>
            <a:ext cx="71199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Garantía de Proporciones (K = 5 Folds)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87898"/>
            <a:ext cx="601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Asegura que cada pliegue de entrenamiento y validación conserve exactamente la proporción del 11.7% de respuestas positivas.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073723"/>
            <a:ext cx="6248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Estabilidad:</a:t>
            </a:r>
            <a:r>
              <a:rPr b="1" sz="1200" i="0" u="none">
                <a:solidFill>
                  <a:srgbClr val="0284C7"/>
                </a:solidFill>
                <a:latin typeface="Inter"/>
              </a:rPr>
              <a:t> Confirma que los resultados no son producto de una partición afortunada.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569023"/>
            <a:ext cx="77533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Desviación Estándar Baja:</a:t>
            </a:r>
            <a:r>
              <a:rPr b="1" sz="1200" i="0" u="none">
                <a:solidFill>
                  <a:srgbClr val="0284C7"/>
                </a:solidFill>
                <a:latin typeface="Inter"/>
              </a:rPr>
              <a:t> Demuestra alta capacidad de generalización del modelo.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831" y="3254573"/>
            <a:ext cx="483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ROC-AUC PROMEDIO (CV)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831" y="3416498"/>
            <a:ext cx="48339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~0.91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831" y="4102298"/>
            <a:ext cx="4833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Inter"/>
              </a:rPr>
              <a:t>Excelente capacidad de discriminación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0248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49785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54548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92660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302198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06960"/>
            <a:ext cx="1905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10. ANÁLISIS CRÍTICO &amp; MEJORAS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Hallazgos y Propuestas Futuras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178373"/>
            <a:ext cx="35194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Variable Duración (duration)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54598"/>
            <a:ext cx="312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Altamente predictiva pero impredecible antes de llamar. Se sugiere entrenar modelos sin esta variable para escenarios de pre-campaña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50" y="3287910"/>
            <a:ext cx="3471862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Técnicas Anti-Desbalance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564135"/>
            <a:ext cx="312420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Implementar ponderación de clases en la pérdida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pos_weight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) o técnicas de oversampling como SMOTE.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1075" y="3292673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Arquitecturas Avanzadas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568898"/>
            <a:ext cx="312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Explorar redes con conexiones residuales (ResNet tabular) o combinar con modelos de Gradient Boosting (XGBoost).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52825" y="4392810"/>
            <a:ext cx="1133475" cy="333375"/>
          </a:xfrm>
          <a:prstGeom prst="roundRect">
            <a:avLst>
              <a:gd name="adj" fmla="val 171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38700" y="4392810"/>
            <a:ext cx="1685925" cy="333375"/>
          </a:xfrm>
          <a:prstGeom prst="roundRect">
            <a:avLst>
              <a:gd name="adj" fmla="val 171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77025" y="4392810"/>
            <a:ext cx="1962150" cy="333375"/>
          </a:xfrm>
          <a:prstGeom prst="roundRect">
            <a:avLst>
              <a:gd name="adj" fmla="val 171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69718" y="2131665"/>
            <a:ext cx="1452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Space Grotesk"/>
              </a:rPr>
              <a:t>SÍNTESIS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2954" y="2379315"/>
            <a:ext cx="872609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Conclusiones de la Evaluación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3188940"/>
            <a:ext cx="8334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El modelo MLP desarrollado en PyTorch logra clasificar eficazmente la intención de contratación. La estandarización, las capas ReLU con Dropout y el ajuste adaptativo del umbral resultaron ser los pilares clave del desempeño.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2350" y="4469010"/>
            <a:ext cx="11144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Inter"/>
              </a:rPr>
              <a:t>PyTorch 2.x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0359" y="4469010"/>
            <a:ext cx="18026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Inter"/>
              </a:rPr>
              <a:t>Bank Marketing UCI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4156" y="4469010"/>
            <a:ext cx="214788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Inter"/>
              </a:rPr>
              <a:t>Deep Learning DLY0100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